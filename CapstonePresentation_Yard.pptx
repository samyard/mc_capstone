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1c91768b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1c91768b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1c91768b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1c91768b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c91768b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1c91768b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1c91768b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1c91768b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1c91768b5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1c91768b5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c91768b5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c91768b5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1c91768b5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1c91768b5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1c91768b5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1c91768b5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1c91768b5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1c91768b5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274952"/>
            <a:ext cx="8222100" cy="13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Toxicity Mitigation in GPT-4 Family Models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6607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742"/>
              <a:t>A Replication Study of RealToxicityPrompts (2020)</a:t>
            </a:r>
            <a:endParaRPr sz="1742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98088" y="42671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Yard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Toxicity Generation in GPT Models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60225" y="1095625"/>
            <a:ext cx="5965800" cy="3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RealToxicityPrompts Study</a:t>
            </a:r>
            <a:r>
              <a:rPr lang="en" sz="1500"/>
              <a:t>: Evaluating Neural Toxic Degeneration in Language Models (2020)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~100K prompts of varying toxicity completed by multiple LLMs – Including GPT-1, GPT-2, &amp; GPT-3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Even seemingly innocent inputs can generate harmful completions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Revealed fundamental safety </a:t>
            </a:r>
            <a:r>
              <a:rPr lang="en" sz="1500"/>
              <a:t>concerns</a:t>
            </a:r>
            <a:r>
              <a:rPr lang="en" sz="1500"/>
              <a:t> in LLMs that are deployed to the public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Replication Study: 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~350 prompts of varying toxicity completed by three GPT-4 family models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Uses the same dataset and toxicity measurement tool 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Evaluates whether safety interventions since 2020 have been effective</a:t>
            </a:r>
            <a:endParaRPr sz="1500"/>
          </a:p>
        </p:txBody>
      </p:sp>
      <p:pic>
        <p:nvPicPr>
          <p:cNvPr id="95" name="Google Shape;95;p14" title="Screen Shot 2025-12-15 at 11.56.2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200" y="1229863"/>
            <a:ext cx="3028800" cy="23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0225" y="4637250"/>
            <a:ext cx="53199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800">
                <a:latin typeface="Roboto"/>
                <a:ea typeface="Roboto"/>
                <a:cs typeface="Roboto"/>
                <a:sym typeface="Roboto"/>
              </a:rPr>
              <a:t>Reference: Gehman et al. (2020). RealToxicityPrompts: Evaluating Neural Toxic Degeneration in Language Models.</a:t>
            </a:r>
            <a:endParaRPr i="1"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757625" y="736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&amp; Predictions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221375" y="1104100"/>
            <a:ext cx="6720900" cy="3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Research Question: </a:t>
            </a:r>
            <a:endParaRPr sz="1500"/>
          </a:p>
          <a:p>
            <a:pPr indent="-3167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Have GPT-4 family models made meaningful progress in reducing toxic text generation compared to GPT-3?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Hypothesis:</a:t>
            </a:r>
            <a:endParaRPr b="1" sz="1500"/>
          </a:p>
          <a:p>
            <a:pPr indent="-3167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Architectural improvements (such as Reinforcement Learning Human Feedback </a:t>
            </a:r>
            <a:r>
              <a:rPr lang="en" sz="1500"/>
              <a:t>training, data curation, and content filtering) implemented since 2020 have reduced models’ likelihood to generate toxic content.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Predictions:</a:t>
            </a:r>
            <a:endParaRPr b="1" sz="1500"/>
          </a:p>
          <a:p>
            <a:pPr indent="-3167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The proportion of highly toxic outputs will be significantly reduced (A “highly toxic output” is measured above the threshold 0.5) – measured using Google’s Perspective API (0.0-1.0)</a:t>
            </a:r>
            <a:endParaRPr sz="1500"/>
          </a:p>
          <a:p>
            <a:pPr indent="-3167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Models will demonstrate better safety performance across the full spectrum of prompt toxicity levels (low, medium, high, very high)</a:t>
            </a:r>
            <a:endParaRPr sz="1500"/>
          </a:p>
        </p:txBody>
      </p:sp>
      <p:sp>
        <p:nvSpPr>
          <p:cNvPr id="104" name="Google Shape;104;p15"/>
          <p:cNvSpPr txBox="1"/>
          <p:nvPr/>
        </p:nvSpPr>
        <p:spPr>
          <a:xfrm>
            <a:off x="8757625" y="736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17500" y="357200"/>
            <a:ext cx="4572000" cy="5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30"/>
              <a:t>Data Source &amp; Sampling Strategy</a:t>
            </a:r>
            <a:endParaRPr sz="2330"/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146050" y="1029800"/>
            <a:ext cx="4314900" cy="4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Dataset:</a:t>
            </a:r>
            <a:r>
              <a:rPr lang="en" sz="1500"/>
              <a:t> RealToxicityPrompts (Gehman et al. 2020)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100,000 naturally </a:t>
            </a:r>
            <a:r>
              <a:rPr lang="en" sz="1500"/>
              <a:t>occurring</a:t>
            </a:r>
            <a:r>
              <a:rPr lang="en" sz="1500"/>
              <a:t> prompts from web text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Pre-scored for toxicity using Google’s Perspective API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Toxicity scale: 0.0 (non-toxic) to 1.0 (highly toxic)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Sampling Strategy: </a:t>
            </a:r>
            <a:r>
              <a:rPr lang="en" sz="1500"/>
              <a:t>Stratified Random Sampling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~350 prompts split across four bins of toxicity levels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Low toxicity</a:t>
            </a:r>
            <a:r>
              <a:rPr lang="en" sz="1500"/>
              <a:t> (0.0-0.25): ~87 prompts, </a:t>
            </a:r>
            <a:r>
              <a:rPr b="1" lang="en" sz="1500"/>
              <a:t>Medium toxicity</a:t>
            </a:r>
            <a:r>
              <a:rPr lang="en" sz="1500"/>
              <a:t> (0.25-0.5): ~87 prompts, </a:t>
            </a:r>
            <a:r>
              <a:rPr b="1" lang="en" sz="1500"/>
              <a:t>High toxicity</a:t>
            </a:r>
            <a:r>
              <a:rPr lang="en" sz="1500"/>
              <a:t> (0.5-0.75): ~87 prompts, </a:t>
            </a:r>
            <a:r>
              <a:rPr b="1" lang="en" sz="1500"/>
              <a:t>Very high toxicity</a:t>
            </a:r>
            <a:r>
              <a:rPr lang="en" sz="1500"/>
              <a:t> (0.75-1.0): ~86 prompts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1" name="Google Shape;111;p16" title="figure1_toxicity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900" y="1029800"/>
            <a:ext cx="4103424" cy="246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4807900" y="3586550"/>
            <a:ext cx="4103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Histogram: Our sample of 347 prompts is well-balanced across the toxicity spectrum (mean = 0.487, median = 0.496)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58075" y="244650"/>
            <a:ext cx="4572000" cy="5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30"/>
              <a:t>Data Collection Process</a:t>
            </a:r>
            <a:endParaRPr sz="2330"/>
          </a:p>
        </p:txBody>
      </p:sp>
      <p:sp>
        <p:nvSpPr>
          <p:cNvPr id="119" name="Google Shape;119;p17"/>
          <p:cNvSpPr txBox="1"/>
          <p:nvPr>
            <p:ph idx="1" type="subTitle"/>
          </p:nvPr>
        </p:nvSpPr>
        <p:spPr>
          <a:xfrm>
            <a:off x="4728200" y="856837"/>
            <a:ext cx="4296000" cy="3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Models Tested: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GPT-4o-mini, GPT-4o, GPT-4.1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Collection Method: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Fed our prompts to each model via OpenAI API using consistent parameters (automated using python scripts)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Fed each LLM response into Perspective API to get a toxicity score for the output.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Stored our inputs and outputs into a final datasets (1,000+ total completions)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120" name="Google Shape;120;p17" title="Capstone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5" y="949050"/>
            <a:ext cx="4423403" cy="307128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58075" y="244650"/>
            <a:ext cx="4572000" cy="5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30"/>
              <a:t>Key Variables &amp; Features</a:t>
            </a:r>
            <a:endParaRPr sz="2330"/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140775" y="856837"/>
            <a:ext cx="4296000" cy="3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Primary Outcome: </a:t>
            </a:r>
            <a:r>
              <a:rPr lang="en" sz="1500"/>
              <a:t>Completion Toxicity Score (0.0 - 1.0 scale from Perspective API)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Measures how toxic the model’s generated text is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Key Engineered Feature: 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Toxicity Reduction = Prompt Toxicity - Completion Toxicity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Comparative Framework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Baseline: GPT-3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Test Models: GPT-4o-mini, GPT-4o, GPT-4.1</a:t>
            </a:r>
            <a:endParaRPr sz="1500"/>
          </a:p>
        </p:txBody>
      </p:sp>
      <p:pic>
        <p:nvPicPr>
          <p:cNvPr id="128" name="Google Shape;128;p18" title="figure6_prompt_vs_completion_all_mode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950" y="529600"/>
            <a:ext cx="4147174" cy="28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4778938" y="3421275"/>
            <a:ext cx="41472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Scatterplot: Prompt toxicity versus Completion toxicity. The vast majority of points cluster near the bottom with low completion toxicity.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Key Findings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311700" y="1017800"/>
            <a:ext cx="67902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GPT-4o-mini (smallest &amp; cheapest model) achieves the lowest toxicity scores across all models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Smaller models may internalize safety behaviors more consistently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Released later, perhaps it benefitted from refined training procedures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Prompt length and toxicity are very weakly correlated (to rule out confounds)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 GPT-4 family models show a low mean toxicity completion, ranging from 0.054 (GPT-4o-mini) to 0.069 (GPT-4.1)</a:t>
            </a:r>
            <a:endParaRPr sz="1500"/>
          </a:p>
        </p:txBody>
      </p:sp>
      <p:sp>
        <p:nvSpPr>
          <p:cNvPr id="137" name="Google Shape;137;p19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Takeaways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1700" y="1067100"/>
            <a:ext cx="4260300" cy="39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Major Safety Progress Since 2020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 GPT-4 models show a dramatic toxicity reduction </a:t>
            </a:r>
            <a:r>
              <a:rPr lang="en" sz="1500"/>
              <a:t>versus</a:t>
            </a:r>
            <a:r>
              <a:rPr lang="en" sz="1500"/>
              <a:t> our baseline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High-toxicity rate: ~2%, over a 30% decrease in probability compared to 2020 study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Models intervene proportionally: minimal changes to benign prompts (0.05-0.1 reduction), strong mitigation for toxic inputs (0.5-0.8 reduction)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Vulnerabilities still remain in these LLMs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Safety can be compromised with &lt;340 adversarial examples*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Maximum toxicity scores still reach 0.6-0.9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*https://arxiv.org/html/2311.05553v3</a:t>
            </a:r>
            <a:endParaRPr sz="1000"/>
          </a:p>
        </p:txBody>
      </p:sp>
      <p:pic>
        <p:nvPicPr>
          <p:cNvPr id="144" name="Google Shape;144;p20" title="Screen Shot 2025-12-15 at 16.00.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000" y="839050"/>
            <a:ext cx="4410400" cy="28798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20"/>
          <p:cNvCxnSpPr/>
          <p:nvPr/>
        </p:nvCxnSpPr>
        <p:spPr>
          <a:xfrm flipH="1">
            <a:off x="4567350" y="410000"/>
            <a:ext cx="9300" cy="424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0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58075" y="244650"/>
            <a:ext cx="4572000" cy="5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30"/>
              <a:t>Limitations &amp; Recommendations</a:t>
            </a:r>
            <a:endParaRPr sz="2330"/>
          </a:p>
        </p:txBody>
      </p:sp>
      <p:sp>
        <p:nvSpPr>
          <p:cNvPr id="152" name="Google Shape;152;p21"/>
          <p:cNvSpPr txBox="1"/>
          <p:nvPr>
            <p:ph idx="1" type="subTitle"/>
          </p:nvPr>
        </p:nvSpPr>
        <p:spPr>
          <a:xfrm>
            <a:off x="140775" y="856825"/>
            <a:ext cx="4394400" cy="4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Limitations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Single Metric: </a:t>
            </a:r>
            <a:r>
              <a:rPr lang="en" sz="1500"/>
              <a:t>Perspective</a:t>
            </a:r>
            <a:r>
              <a:rPr lang="en" sz="1500"/>
              <a:t> API only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Limited Scope: GPT-4 Family &amp; 1 generation per prompt vs. original study’s 25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Toxicity is a spectrum: context and subjectivity matter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Recommendations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Multi-layered defense is key: Content filtering, monitoring, and human oversight (RLHF)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GPT-4o-mini performed as our best model in the GPT-4 family, both in cost and safety</a:t>
            </a:r>
            <a:endParaRPr sz="1500"/>
          </a:p>
        </p:txBody>
      </p:sp>
      <p:pic>
        <p:nvPicPr>
          <p:cNvPr id="153" name="Google Shape;153;p21" title="Screen Shot 2025-12-15 at 16.30.5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300" y="2571750"/>
            <a:ext cx="4209000" cy="183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54" name="Google Shape;154;p21" title="Screen Shot 2025-12-15 at 16.30.4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100" y="488100"/>
            <a:ext cx="4139400" cy="1931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5" name="Google Shape;155;p21"/>
          <p:cNvSpPr txBox="1"/>
          <p:nvPr/>
        </p:nvSpPr>
        <p:spPr>
          <a:xfrm>
            <a:off x="4949000" y="4820375"/>
            <a:ext cx="40293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https://openai.com/index/gpt-4o-system-card/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8757650" y="55200"/>
            <a:ext cx="312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58075" y="244650"/>
            <a:ext cx="4572000" cy="5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30"/>
              <a:t>Next Steps</a:t>
            </a:r>
            <a:endParaRPr sz="2330"/>
          </a:p>
        </p:txBody>
      </p:sp>
      <p:sp>
        <p:nvSpPr>
          <p:cNvPr id="162" name="Google Shape;162;p22"/>
          <p:cNvSpPr txBox="1"/>
          <p:nvPr>
            <p:ph idx="1" type="subTitle"/>
          </p:nvPr>
        </p:nvSpPr>
        <p:spPr>
          <a:xfrm>
            <a:off x="140775" y="856837"/>
            <a:ext cx="4296000" cy="3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Ideally we would want to collect more data: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Expand sample size beyond ~350 prompts for more statistical power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Test additional model families: Include Claude, Gemini, etc.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Compare safety frameworks: RLHF vs. constitutional AI </a:t>
            </a:r>
            <a:r>
              <a:rPr lang="en" sz="1500"/>
              <a:t>effectiveness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Stay current with evolving safety research and model updates</a:t>
            </a:r>
            <a:endParaRPr sz="1500"/>
          </a:p>
        </p:txBody>
      </p:sp>
      <p:sp>
        <p:nvSpPr>
          <p:cNvPr id="163" name="Google Shape;163;p22"/>
          <p:cNvSpPr txBox="1"/>
          <p:nvPr/>
        </p:nvSpPr>
        <p:spPr>
          <a:xfrm>
            <a:off x="8628850" y="55200"/>
            <a:ext cx="441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